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f4f7e3c1224ca3" /><Relationship Type="http://schemas.openxmlformats.org/officeDocument/2006/relationships/extended-properties" Target="/docProps/app.xml" Id="R197ba7eaa1a14245" /><Relationship Type="http://schemas.openxmlformats.org/officeDocument/2006/relationships/officeDocument" Target="/ppt/presentation.xml" Id="R77c02629a42742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b0bbddf43c4fd2"/>
  </p:sldMasterIdLst>
  <p:notesMasterIdLst>
    <p:notesMasterId xmlns:r="http://schemas.openxmlformats.org/officeDocument/2006/relationships" r:id="Rabb939c65647492a"/>
  </p:notesMasterIdLst>
  <p:sldIdLst>
    <p:sldId xmlns:r="http://schemas.openxmlformats.org/officeDocument/2006/relationships" id="256" r:id="R165e241b93134786"/>
    <p:sldId xmlns:r="http://schemas.openxmlformats.org/officeDocument/2006/relationships" id="257" r:id="Rd07f1f6130464483"/>
    <p:sldId xmlns:r="http://schemas.openxmlformats.org/officeDocument/2006/relationships" id="258" r:id="R034c90a887664e78"/>
    <p:sldId xmlns:r="http://schemas.openxmlformats.org/officeDocument/2006/relationships" id="259" r:id="Ra72539b01cd84299"/>
    <p:sldId xmlns:r="http://schemas.openxmlformats.org/officeDocument/2006/relationships" id="260" r:id="Raf3a0227ed424b2d"/>
    <p:sldId xmlns:r="http://schemas.openxmlformats.org/officeDocument/2006/relationships" id="261" r:id="R8f382a73ce844f79"/>
    <p:sldId xmlns:r="http://schemas.openxmlformats.org/officeDocument/2006/relationships" id="262" r:id="R990b11cfaf4e452b"/>
    <p:sldId xmlns:r="http://schemas.openxmlformats.org/officeDocument/2006/relationships" id="263" r:id="Radc6ee8def5e4bc9"/>
    <p:sldId xmlns:r="http://schemas.openxmlformats.org/officeDocument/2006/relationships" id="264" r:id="R4a5469b603ce437a"/>
    <p:sldId xmlns:r="http://schemas.openxmlformats.org/officeDocument/2006/relationships" id="265" r:id="Ra6c4633427e34fe6"/>
    <p:sldId xmlns:r="http://schemas.openxmlformats.org/officeDocument/2006/relationships" id="266" r:id="R954c9f803ae84675"/>
    <p:sldId xmlns:r="http://schemas.openxmlformats.org/officeDocument/2006/relationships" id="267" r:id="Rcf5c44bcc5244c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54602157f440a6" /><Relationship Type="http://schemas.openxmlformats.org/officeDocument/2006/relationships/slideMaster" Target="/ppt/slideMasters/slideMaster1.xml" Id="Rf1b0bbddf43c4fd2" /><Relationship Type="http://schemas.openxmlformats.org/officeDocument/2006/relationships/notesMaster" Target="/ppt/notesMasters/notesMaster1.xml" Id="Rabb939c65647492a" /><Relationship Type="http://schemas.openxmlformats.org/officeDocument/2006/relationships/presProps" Target="/ppt/presProps.xml" Id="Re90486f5f1324163" /><Relationship Type="http://schemas.openxmlformats.org/officeDocument/2006/relationships/tableStyles" Target="/ppt/tableStyles.xml" Id="Re98083c1205246c4" /><Relationship Type="http://schemas.openxmlformats.org/officeDocument/2006/relationships/slide" Target="/ppt/slides/slide1.xml" Id="R165e241b93134786" /><Relationship Type="http://schemas.openxmlformats.org/officeDocument/2006/relationships/slide" Target="/ppt/slides/slide2.xml" Id="Rd07f1f6130464483" /><Relationship Type="http://schemas.openxmlformats.org/officeDocument/2006/relationships/slide" Target="/ppt/slides/slide3.xml" Id="R034c90a887664e78" /><Relationship Type="http://schemas.openxmlformats.org/officeDocument/2006/relationships/slide" Target="/ppt/slides/slide4.xml" Id="Ra72539b01cd84299" /><Relationship Type="http://schemas.openxmlformats.org/officeDocument/2006/relationships/slide" Target="/ppt/slides/slide5.xml" Id="Raf3a0227ed424b2d" /><Relationship Type="http://schemas.openxmlformats.org/officeDocument/2006/relationships/slide" Target="/ppt/slides/slide6.xml" Id="R8f382a73ce844f79" /><Relationship Type="http://schemas.openxmlformats.org/officeDocument/2006/relationships/slide" Target="/ppt/slides/slide7.xml" Id="R990b11cfaf4e452b" /><Relationship Type="http://schemas.openxmlformats.org/officeDocument/2006/relationships/slide" Target="/ppt/slides/slide8.xml" Id="Radc6ee8def5e4bc9" /><Relationship Type="http://schemas.openxmlformats.org/officeDocument/2006/relationships/slide" Target="/ppt/slides/slide9.xml" Id="R4a5469b603ce437a" /><Relationship Type="http://schemas.openxmlformats.org/officeDocument/2006/relationships/slide" Target="/ppt/slides/slide10.xml" Id="Ra6c4633427e34fe6" /><Relationship Type="http://schemas.openxmlformats.org/officeDocument/2006/relationships/slide" Target="/ppt/slides/slide11.xml" Id="R954c9f803ae84675" /><Relationship Type="http://schemas.openxmlformats.org/officeDocument/2006/relationships/slide" Target="/ppt/slides/slide12.xml" Id="Rcf5c44bcc5244c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f7fe2269b147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b5e80d7e344a1c" /><Relationship Type="http://schemas.openxmlformats.org/officeDocument/2006/relationships/notesMaster" Target="/ppt/notesMasters/notesMaster1.xml" Id="Rca1bbaa8381747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724f9090a44b6c" /><Relationship Type="http://schemas.openxmlformats.org/officeDocument/2006/relationships/notesMaster" Target="/ppt/notesMasters/notesMaster1.xml" Id="Rb9792f561d384d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820831f8e64fb9" /><Relationship Type="http://schemas.openxmlformats.org/officeDocument/2006/relationships/notesMaster" Target="/ppt/notesMasters/notesMaster1.xml" Id="R1293ac1d193641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d43b8f089147fe" /><Relationship Type="http://schemas.openxmlformats.org/officeDocument/2006/relationships/notesMaster" Target="/ppt/notesMasters/notesMaster1.xml" Id="R3a6e741eecae48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a8a13973bf4fc6" /><Relationship Type="http://schemas.openxmlformats.org/officeDocument/2006/relationships/notesMaster" Target="/ppt/notesMasters/notesMaster1.xml" Id="R19b18de7520844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eaa98150b64f3d" /><Relationship Type="http://schemas.openxmlformats.org/officeDocument/2006/relationships/notesMaster" Target="/ppt/notesMasters/notesMaster1.xml" Id="Rcf06a81721144d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635b5a0a1e4914" /><Relationship Type="http://schemas.openxmlformats.org/officeDocument/2006/relationships/notesMaster" Target="/ppt/notesMasters/notesMaster1.xml" Id="R4034bda844544e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b7f243cad54e64" /><Relationship Type="http://schemas.openxmlformats.org/officeDocument/2006/relationships/notesMaster" Target="/ppt/notesMasters/notesMaster1.xml" Id="R39c9444ace3043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34900874f94472" /><Relationship Type="http://schemas.openxmlformats.org/officeDocument/2006/relationships/notesMaster" Target="/ppt/notesMasters/notesMaster1.xml" Id="Rc517e1d1bdb14a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3304940ff74abb" /><Relationship Type="http://schemas.openxmlformats.org/officeDocument/2006/relationships/notesMaster" Target="/ppt/notesMasters/notesMaster1.xml" Id="R1ce6044dc51f48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6352f15c72425e" /><Relationship Type="http://schemas.openxmlformats.org/officeDocument/2006/relationships/notesMaster" Target="/ppt/notesMasters/notesMaster1.xml" Id="Rb08b14e85ade48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937f6c623548bc" /><Relationship Type="http://schemas.openxmlformats.org/officeDocument/2006/relationships/notesMaster" Target="/ppt/notesMasters/notesMaster1.xml" Id="Ra7c6e7e9a8e841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项目仓库 README、docs/ 与自动化测试结果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docs/01_requirements_analysis.md；docs/03_pain_points.md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项目仓库 README、docs/ 与自动化测试结果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项目仓库 README、docs/ 与自动化测试结果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项目仓库 README、docs/ 与自动化测试结果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项目仓库 README、docs/ 与自动化测试结果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项目仓库 README、docs/ 与自动化测试结果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项目仓库 README、docs/ 与自动化测试结果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项目仓库 README、docs/ 与自动化测试结果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backend/tests；sample_data/evaluation/qa-test-set.csv；2026-08-28 本地测试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docs/13_ai_integration_and_acceptance.md；docs/test-report-template.md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项目仓库 README、docs/ 与自动化测试结果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1f0626758541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d54deb30054f52" /><Relationship Type="http://schemas.openxmlformats.org/officeDocument/2006/relationships/slideLayout" Target="/ppt/slideLayouts/slideLayout1.xml" Id="Rad015263f14a41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015263f14a41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e578d17f54619" /><Relationship Type="http://schemas.openxmlformats.org/officeDocument/2006/relationships/notesSlide" Target="/ppt/notesSlides/notesSlide1.xml" Id="R3f24311eea5649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7af6ca95446ec" /><Relationship Type="http://schemas.openxmlformats.org/officeDocument/2006/relationships/notesSlide" Target="/ppt/notesSlides/notesSlide2.xml" Id="R64b12f3d1b9b42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cabdfee6f427e" /><Relationship Type="http://schemas.openxmlformats.org/officeDocument/2006/relationships/notesSlide" Target="/ppt/notesSlides/notesSlide3.xml" Id="R864de8a7d4c348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52c4898ec49c1" /><Relationship Type="http://schemas.openxmlformats.org/officeDocument/2006/relationships/notesSlide" Target="/ppt/notesSlides/notesSlide4.xml" Id="R818f8fda4b3144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da62408004a0f" /><Relationship Type="http://schemas.openxmlformats.org/officeDocument/2006/relationships/notesSlide" Target="/ppt/notesSlides/notesSlide5.xml" Id="R11783b9320a047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7831ea44d4a8a" /><Relationship Type="http://schemas.openxmlformats.org/officeDocument/2006/relationships/notesSlide" Target="/ppt/notesSlides/notesSlide6.xml" Id="R26ad7c45358241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192efc38f40d3" /><Relationship Type="http://schemas.openxmlformats.org/officeDocument/2006/relationships/notesSlide" Target="/ppt/notesSlides/notesSlide7.xml" Id="Rff2cc2d296e54d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43801d9114cbb" /><Relationship Type="http://schemas.openxmlformats.org/officeDocument/2006/relationships/notesSlide" Target="/ppt/notesSlides/notesSlide8.xml" Id="Re07da099264342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e13d4310a4f8e" /><Relationship Type="http://schemas.openxmlformats.org/officeDocument/2006/relationships/notesSlide" Target="/ppt/notesSlides/notesSlide9.xml" Id="Red1b7ad87c7e44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e20659b2d4bc4" /><Relationship Type="http://schemas.openxmlformats.org/officeDocument/2006/relationships/notesSlide" Target="/ppt/notesSlides/notesSlide10.xml" Id="Rf1319f68039545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d076142894d56" /><Relationship Type="http://schemas.openxmlformats.org/officeDocument/2006/relationships/notesSlide" Target="/ppt/notesSlides/notesSlide11.xml" Id="Rcbfae52599cf47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86e42efa64180" /><Relationship Type="http://schemas.openxmlformats.org/officeDocument/2006/relationships/notesSlide" Target="/ppt/notesSlides/notesSlide12.xml" Id="R6602e2fd2ed348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2832B-6F10-4C48-9A08-4C51F5BF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58C"/>
          </a:solidFill>
          <a:ln xmlns:a="http://schemas.openxmlformats.org/drawingml/2006/main" w="0">
            <a:solidFill>
              <a:srgbClr val="19A58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D0DE5-1B88-480B-B69F-1149D500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CourseGraph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FE175-D9B0-4728-87FE-43AD831F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9A5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9A58C"/>
                </a:solidFill>
                <a:latin typeface="Microsoft YaHei"/>
                <a:ea typeface="Microsoft YaHei"/>
                <a:cs typeface="Microsoft YaHei"/>
              </a:rPr>
              <a:t>课程知识图谱教学平台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48B34-084E-438D-AD8A-2DBAB605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450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45069"/>
                </a:solidFill>
                <a:latin typeface="Microsoft YaHei"/>
                <a:ea typeface="Microsoft YaHei"/>
                <a:cs typeface="Microsoft YaHei"/>
              </a:rPr>
              <a:t>真实 AI 构图 · 可溯源 GraphRAG · 个性化学习闭环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501DC-4F13-42CE-B460-F2F1CED8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914400"/>
            <a:ext cx="2857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2"/>
          </a:solidFill>
          <a:ln xmlns:a="http://schemas.openxmlformats.org/drawingml/2006/main" w="9525">
            <a:solidFill>
              <a:srgbClr val="B8DC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93D96-BB28-46AC-95EE-B47CD179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52550"/>
            <a:ext cx="200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课程内容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教学班级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师生关系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EE86C-C243-41BA-9371-5748699A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8A"/>
                </a:solidFill>
                <a:latin typeface="Microsoft YaHei"/>
                <a:ea typeface="Microsoft YaHei"/>
                <a:cs typeface="Microsoft YaHei"/>
              </a:rPr>
              <a:t>学校 / 团队：待补充</a:t>
            </a:r>
          </a:p>
        </p:txBody>
      </p:sp>
    </p:spTree>
    <p:extLst>
      <p:ext uri="{BB962C8B-B14F-4D97-AF65-F5344CB8AC3E}">
        <p14:creationId xmlns:p14="http://schemas.microsoft.com/office/powerpoint/2010/main" val="16618966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F9FFBA51-8D65-4F32-9CE2-32B027AF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03EDBE02-C253-49DB-830C-63A76120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FECFC6D6-7314-4F69-87C6-4CC50021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02439E78-ED49-4211-AEBA-937AF699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B891B9FB-4D2D-401B-BE98-C9D738EA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教学知识服务的三处断点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0F95A70-BCF8-4A55-A5EB-79AE985F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教师从课件手工构图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BC49B09-4724-4155-86EF-A281ED46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通用问答难以核对原文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B74C21B6-D6B4-4578-B6B7-87C9C012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学生不知道先学什么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3378DA73-629A-4F72-9709-F2A67B37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高成本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35256555-4D95-40DD-A0BA-B49F3281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不清晰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A3B24AD-60DA-4E72-BF8B-3692A55B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难溯源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829D5F76-A6EC-4487-8FA0-D3A8641E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现有工具往往只解决其中一段，无法形成可管理、可追溯、可持续优化的教学闭环。</a:t>
            </a:r>
          </a:p>
        </p:txBody>
      </p:sp>
    </p:spTree>
    <p:extLst>
      <p:ext uri="{BB962C8B-B14F-4D97-AF65-F5344CB8AC3E}">
        <p14:creationId xmlns:p14="http://schemas.microsoft.com/office/powerpoint/2010/main" val="17782518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E3A7556-9E67-4662-919C-74401FBC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9DADE50-C228-44B5-82DD-65D5C632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三层模型把内容、教学与人连接起来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41FAD83-FE9A-477C-9FB2-09076DD4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9A31721-2C3A-45A0-9C91-9A0B8B27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74892FA-D1B7-4C91-8D8C-0AD4CD1B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10742CB1-DE36-453D-8E47-B83A391A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9121AC08-451C-402D-9181-46E9083D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课程内容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课件、分片、知识点、关系与图谱版本统一归属课程。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18F63F72-DCED-4932-9BA2-AB004014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F5D60D41-75E4-4B8A-B668-BCE34E9F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教学班级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学期、班级码、主教师、协作教师和学生围绕教学班组织。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BD8C37E1-1E3F-44E3-82B5-C313992D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252AA2C1-3E18-4171-A4B1-A584E945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师生关系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进度按学生 + 班级 + 知识点隔离，角色权限在服务端校验。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7E33ABA0-828F-4C57-ADAE-04605092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教学班级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CD2546AC-22DF-4828-A84F-291B8C84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课程内容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A697A839-AB74-4172-9E88-1EED5897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师生关系</a:t>
            </a:r>
          </a:p>
        </p:txBody>
      </p:sp>
    </p:spTree>
    <p:extLst>
      <p:ext uri="{BB962C8B-B14F-4D97-AF65-F5344CB8AC3E}">
        <p14:creationId xmlns:p14="http://schemas.microsoft.com/office/powerpoint/2010/main" val="6281721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1A83C74-8082-41D9-83CC-EF4799BB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02A977A-CE9B-489D-B5F5-EA21EE5A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系统从上传一直闭环到学习反馈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E8D1AA1F-936D-4AED-9278-E20CF63E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教师控制发布，学生消费已确认知识，管理员维护组织秩序。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31E7A5C-FEE1-4414-85EA-A0A386B9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上传与解析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6C36A2F3-6CA5-460F-9B9E-2708A643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A9C77516-45E0-44CE-8700-B4372E98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React 负责角色化工作台；FastAPI 提供权限、课程、班级、图谱、问答与工单 API；SQLite 保存业务数据和 FTS5 索引；Neo4j 作为可选图分析副本。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0E47D699-33C1-48E9-B22A-73EDCF1A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候选图谱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845AF178-84E0-473C-BED6-0BDE6995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6D81B768-6E1F-46A1-811E-DB0CE46E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教师审核发布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5E0EE7C1-5976-49CD-BCB8-1174176C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B807A647-5053-4F97-A984-7406EF6E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学生学习与问答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1EA7525B-0373-49D3-AE38-27DBA56D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131E7834-0440-4047-947B-A94EFF03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审计与反馈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1B771BDC-B100-4485-8AE2-6950A54D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0840148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A164668-149C-41CC-A1E3-B0F89468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451E5F5-A38C-4CC6-90B6-88ED3ED4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错误课件可以撤回，人工修订不会丢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994D7C7-6436-4AC3-85D2-DF9C7E5C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12DB3FF-C812-4A9F-967C-2FF69C8A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756FFFE0-7AB3-4992-8C7A-68892C35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0BDFA0E3-5B07-40A9-9B1B-228C05E4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07AE9F27-F7D3-4399-9BF9-3042AB91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解析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上传 PDF / DOCX / PPTX / TXT / Markdown，任务状态可恢复。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0D943B2B-04BB-4EAF-BE1E-D5D6350F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283F8D3C-530E-4611-8D3D-8A230858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审核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DeepSeek 结果先进入候选版本，学生继续查看最近已确认图谱。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6C3FC4F5-BD83-4AAC-9FE8-107848E6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A6E68525-CA58-43D6-85B7-894C6335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回滚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删除时预览影响；单一来源自动撤回，共享来源和人工修订保留。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2EED2A20-F0AE-4C8D-98C0-B8962D72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审核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423A271E-61FD-46E5-8C3B-AD728508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解析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C81B6F86-1E9B-4422-A1D5-8D772470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回滚</a:t>
            </a:r>
          </a:p>
        </p:txBody>
      </p:sp>
    </p:spTree>
    <p:extLst>
      <p:ext uri="{BB962C8B-B14F-4D97-AF65-F5344CB8AC3E}">
        <p14:creationId xmlns:p14="http://schemas.microsoft.com/office/powerpoint/2010/main" val="17622802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2572A38-194D-46DE-AC99-22A0CF83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BB857DA-5E4D-42E2-9487-0E26461A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真实 AI 构图受结构和来源双重约束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71E1B89-A439-4947-B69A-17E83587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模型负责抽取，系统负责校验，教师负责最终判断。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90638A7-11DC-4CDF-9AA4-94A8AA80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DeepSeek V4 Flash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BDD62710-2504-46EB-BC56-A94F192B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68CB3A47-9519-4E37-8DB1-7280F11D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正文上限约 60,000 字符；JSON Output 经 Pydantic 校验。节点与关系必须指向课件文档、页码和原文片段。少于 20 个知识点或三类关系不完整时补全一次，仍不足则显示质量警告。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663179F0-7074-49B9-9798-5656554D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20–30 个知识点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5E213C94-85AB-4B27-B35A-0C31A042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A6EFDA97-A018-4C0A-A8DC-5CEE92A7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类关系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4CE092E4-B0AC-4E77-A2C8-96368A53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611BCD91-F92A-4DB5-B230-70D93B1D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页码 + 原文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77285BEF-E327-4A31-8B2E-596EB87D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38E05A17-E027-4D37-86E4-E8036FB1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候选版本审核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48D25254-7C75-4C06-B8E5-FCF783E0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9785766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56086739-44D9-45FB-8CFB-78EE9E04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AF3F711-34BD-4E5D-B8FD-AD1E7B13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GraphRAG 让每个回答都能回到课件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B6130554-74C7-4E7B-8F89-FFB65868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085B2AEA-D78D-485D-936E-9B265729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7DD9CD5-89D5-4EF6-8E86-B67F23D9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A79444BB-B006-4676-B9B1-B35BD9E6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59E9CF30-86B9-4447-A825-A81B63D9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文档检索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SQLite FTS5 使用中文 2/3-gram 建索引，BM25 对课件分片排序。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938390A3-3587-430D-A3CE-A9DB0AE3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069915E2-6AD9-4330-8144-4235EEB3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图谱扩展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知识点详情与相关图谱邻居补充结构化上下文。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725CE758-9A54-46DE-9EA1-057E9C03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542B99A3-A0D9-4E2C-BDE1-3CAED26E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证据约束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DeepSeek 只能依据编号证据回答；证据不足时明确拒答。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026C42FF-D155-417E-8EC1-1FA70D89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图谱扩展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F4BA4239-393D-4AB3-88AE-58AEEEDD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文档检索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578C4847-A6D9-4633-B6EF-F0CFFBA7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证据约束</a:t>
            </a:r>
          </a:p>
        </p:txBody>
      </p:sp>
    </p:spTree>
    <p:extLst>
      <p:ext uri="{BB962C8B-B14F-4D97-AF65-F5344CB8AC3E}">
        <p14:creationId xmlns:p14="http://schemas.microsoft.com/office/powerpoint/2010/main" val="17836816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74700C7-E90B-4E9E-AB44-185175F0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37E803E-0094-44AD-87A1-915790CB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个性化不等于让大模型随意安排学习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F2CB6E2D-C21B-478F-909E-EDB27E24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路径算法保持确定性，AI 提升解释与练习的针对性。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7F85702-1BC4-4F5E-BDD5-8117FCCE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班级隔离进度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3AB3FDCD-715A-4FCA-9A7F-42737158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79FEC949-AF37-447E-80D9-6A2B264E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前置关系和掌握状态决定推荐顺序；DeepSeek 根据薄弱节点与课件证据生成学习分析、针对性讲解，以及基础题、应用题和易错题。离线时保留规则建议并明确标识。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0223F5D4-7409-482E-817F-3497644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确定性学习路径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D4D35D4F-44F0-44CB-8271-1FCB4B00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47941B16-1201-44E5-A139-BF365406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证据型讲解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1265F0B0-45E7-4C05-BDB9-BE86A904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DFB8F063-8207-49B7-A307-E5446A63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三类针对性练习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4883F350-EB5A-4ACF-8460-3FC4EFA3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313B4496-03BB-4195-8B5B-52F1E892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在线 / 离线可见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B1FC343B-09B0-43D4-8CA9-CCE19467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2127443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AA159800-36A5-43BB-BBBF-D80C0E69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1219032-6F00-4C44-8577-0193CFA6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面向学校客户的不只是一个教师面板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F33216B-1354-482A-A8A5-E47EFB69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20EED82-5C3D-4773-B7B3-95F640CA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628D30F-489B-44BE-96D0-446823F2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7CF178CE-03C7-4D75-A364-F1411C32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68AAD27D-4AA6-416B-B410-34B3C364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教师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教师审核、班级管理、课程人数、协作教师、批量导入。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D32B3D4D-EF0C-469C-9EBB-37048EE1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77BC5548-91AF-474D-97BD-CDD22F1B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学生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学生只看所在开课班，拥有个人中心、学习进度和反馈工单。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88E9087E-43AD-432B-A999-18091B4C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4C7F239F-21D4-43AE-BB28-FEC3525E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管理员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管理员管理全校用户、课程、班级、审核、工单与审计日志。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12F20CB3-53D5-4A28-9EA4-FC65B7B8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学生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40E1D10D-BE3D-46FA-A6F8-233F06DC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教师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96196105-4431-46C1-9D66-ED199E9C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管理员</a:t>
            </a:r>
          </a:p>
        </p:txBody>
      </p:sp>
    </p:spTree>
    <p:extLst>
      <p:ext uri="{BB962C8B-B14F-4D97-AF65-F5344CB8AC3E}">
        <p14:creationId xmlns:p14="http://schemas.microsoft.com/office/powerpoint/2010/main" val="154287551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D2AED11C-D0E6-443A-AEBC-10C197D2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B0D783C8-A45A-4FB5-964F-D93B7E53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B019576F-0EF2-4491-AF86-B263B9FA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9351126A-D23C-4E41-B1B4-0B1B8B0D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000E6AE9-2F8F-473E-937D-FF468D2F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自动化基线已经覆盖核心风险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C111EA7-5EAB-477D-952D-3176AFF9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后端自动化测试通过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00A406E-86CF-4727-9AAF-AB41589A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抽取、问答、个性化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1D855C9-18A7-4404-BA9A-BCC6BD30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 题课程内 + 4 题拒答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8632B069-CAD4-4536-98D6-59E2B3ED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16 / 16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A353611B-19C5-401C-917A-1B5CB780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24 题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8ABBC5B-DB2B-4F8B-9041-9DBF1678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模式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3E8BDF55-E0A1-4A85-8BD9-8A1165A9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本地 HTTP Mock 与 API 回归不依赖真实 Key，先保证异常可控、权限可信和数据隔离。</a:t>
            </a:r>
          </a:p>
        </p:txBody>
      </p:sp>
    </p:spTree>
    <p:extLst>
      <p:ext uri="{BB962C8B-B14F-4D97-AF65-F5344CB8AC3E}">
        <p14:creationId xmlns:p14="http://schemas.microsoft.com/office/powerpoint/2010/main" val="13451996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266EB058-5FD5-468A-9D55-AFF31CB8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12F8494D-D1E0-404B-9B1A-0EF4C8A4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8B013A04-0387-4074-BE24-1257594D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38304F60-0DDE-4347-AE76-B024EA7D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52472EC6-E745-4CBC-9770-85F39C4B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真实联调以三个硬指标收口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7B54251-6E5E-401E-918C-45BEEA27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实体与关系人工准确率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1B0AD1F-1A67-4EF7-A809-8ACD87B4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证据型问答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E246E319-FD7F-45BA-AA89-5D863068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单章知识抽取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8F9BDF56-2511-438E-9278-658B25C7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≥ 70%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2585D269-B218-4198-AABE-6726D995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≤ 60 秒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146883D0-C597-445C-A3AE-FEB996A8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≤ 15 秒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BE1769B5-6550-43FA-BFA8-BEB50319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以下是赛题验收目标，不是当前模拟成绩；配置真实 Key、完成人工标注后替换为实测值。</a:t>
            </a:r>
          </a:p>
        </p:txBody>
      </p:sp>
    </p:spTree>
    <p:extLst>
      <p:ext uri="{BB962C8B-B14F-4D97-AF65-F5344CB8AC3E}">
        <p14:creationId xmlns:p14="http://schemas.microsoft.com/office/powerpoint/2010/main" val="177004717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E277427-509D-4C75-AEE0-5CF73DB1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C36DA60-018B-4DEF-B67E-E53ED49B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下一步只剩真实联调与成片取证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DF9D1D4-3DD5-4656-9B9D-D42479FF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核心系统、测试框架和竞赛材料骨架已经就绪。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390F299-035E-46AD-B2C6-B301A18C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真实 Key 联调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8EE41F01-51A0-4C28-BB9D-AFC7A2A1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14CB3409-89DD-4EA6-AD1F-399DA1C0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重新上传主验收 PDF，配置本机 DeepSeek Key，完成双人标注和 24 题问答；随后补 Neo4j / OCR 截图、真实指标、团队分工和 3–5 分钟演示视频。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36BF8C5A-2669-410F-9DBD-E7FBC857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人工标准答案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94DF8223-A948-4D8F-AF28-9342B508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969D1610-9AC6-423F-9F84-1D608401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性能与费用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3AEE6EED-25C5-4EC8-8D3C-9CEC4EDA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52EEF590-482C-481A-9D9D-3FC3BAB4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案例截图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F37C13DF-BA7D-4C34-9F7B-49287C5E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2F90500A-1A83-4CD6-A37A-D1103B94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演示视频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2BA4A733-5D38-48FC-AB2F-C03AB0E6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573893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2026-08-28T15:04:18.6540000Z</dcterms:created>
  <dcterms:modified xsi:type="dcterms:W3CDTF">2026-08-28T15:04:18.6540000Z</dcterms:modified>
</coreProperties>
</file>